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grandir" pitchFamily="2" charset="77"/>
      <p:regular r:id="rId21"/>
    </p:embeddedFont>
    <p:embeddedFont>
      <p:font typeface="Agrandir Bold" pitchFamily="2" charset="77"/>
      <p:regular r:id="rId22"/>
      <p:bold r:id="rId23"/>
    </p:embeddedFont>
    <p:embeddedFont>
      <p:font typeface="Arimo" panose="020B0604020202020204" pitchFamily="34" charset="0"/>
      <p:regular r:id="rId24"/>
    </p:embeddedFont>
    <p:embeddedFont>
      <p:font typeface="DM Sans Bold" pitchFamily="2" charset="77"/>
      <p:regular r:id="rId25"/>
      <p:bold r:id="rId26"/>
    </p:embeddedFont>
    <p:embeddedFont>
      <p:font typeface="Helvetica World" pitchFamily="2" charset="0"/>
      <p:regular r:id="rId27"/>
    </p:embeddedFont>
    <p:embeddedFont>
      <p:font typeface="Poppins" pitchFamily="2" charset="77"/>
      <p:regular r:id="rId28"/>
      <p:bold r:id="rId29"/>
      <p:italic r:id="rId30"/>
      <p:boldItalic r:id="rId31"/>
    </p:embeddedFont>
    <p:embeddedFont>
      <p:font typeface="Poppins Bold" pitchFamily="2" charset="77"/>
      <p:regular r:id="rId32"/>
      <p:bold r:id="rId33"/>
    </p:embeddedFont>
    <p:embeddedFont>
      <p:font typeface="Quicksand Bold" pitchFamily="2" charset="77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4574" autoAdjust="0"/>
  </p:normalViewPr>
  <p:slideViewPr>
    <p:cSldViewPr>
      <p:cViewPr varScale="1">
        <p:scale>
          <a:sx n="85" d="100"/>
          <a:sy n="85" d="100"/>
        </p:scale>
        <p:origin x="2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1E006-F53F-5249-BA73-9AEF95F9FA9B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801C5-D282-F844-8F61-920369D1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82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037E-6111-C64D-BD13-91EE750800E3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C320A-033F-0946-B1AA-DAE83804B120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4DBC-E544-2349-8626-265D781AC8C9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C1109-E7E2-6E49-B226-53CD289FB65D}" type="datetime1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8C5E-0902-2140-B2F6-CF82A0BFB65C}" type="datetime1">
              <a:rPr lang="en-US" smtClean="0"/>
              <a:t>12/10/24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DE8F-7756-DB47-B7E6-E8143E24E46F}" type="datetime1">
              <a:rPr lang="en-US" smtClean="0"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8103-B5D0-0243-A08F-FCF81BECC3A1}" type="datetime1">
              <a:rPr lang="en-US" smtClean="0"/>
              <a:t>12/10/24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0693F-59F6-2143-A98D-0943A8D007CD}" type="datetime1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CB15-4AAD-0E4A-B125-E0F43B59B5D9}" type="datetime1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DE32-8D58-4445-AB70-1B62EDB2A2E7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D3D4-2D8F-B540-B6C5-A2835506CF09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FC7D4-985A-6746-B073-1B985EFC3AC7}" type="datetime1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gi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24422">
            <a:off x="4711095" y="-3886796"/>
            <a:ext cx="16551230" cy="16530541"/>
          </a:xfrm>
          <a:custGeom>
            <a:avLst/>
            <a:gdLst/>
            <a:ahLst/>
            <a:cxnLst/>
            <a:rect l="l" t="t" r="r" b="b"/>
            <a:pathLst>
              <a:path w="16551230" h="16530541">
                <a:moveTo>
                  <a:pt x="0" y="0"/>
                </a:moveTo>
                <a:lnTo>
                  <a:pt x="16551230" y="0"/>
                </a:lnTo>
                <a:lnTo>
                  <a:pt x="16551230" y="16530541"/>
                </a:lnTo>
                <a:lnTo>
                  <a:pt x="0" y="16530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9088373">
            <a:off x="10138927" y="-335185"/>
            <a:ext cx="13128058" cy="13966019"/>
          </a:xfrm>
          <a:custGeom>
            <a:avLst/>
            <a:gdLst/>
            <a:ahLst/>
            <a:cxnLst/>
            <a:rect l="l" t="t" r="r" b="b"/>
            <a:pathLst>
              <a:path w="13128058" h="13966019">
                <a:moveTo>
                  <a:pt x="0" y="0"/>
                </a:moveTo>
                <a:lnTo>
                  <a:pt x="13128058" y="0"/>
                </a:lnTo>
                <a:lnTo>
                  <a:pt x="13128058" y="13966019"/>
                </a:lnTo>
                <a:lnTo>
                  <a:pt x="0" y="13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794495">
            <a:off x="-3735663" y="-2853996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1" y="0"/>
                </a:lnTo>
                <a:lnTo>
                  <a:pt x="10589271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113642" y="7491151"/>
            <a:ext cx="5112278" cy="720832"/>
            <a:chOff x="0" y="0"/>
            <a:chExt cx="1346443" cy="1898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6443" cy="189849"/>
            </a:xfrm>
            <a:custGeom>
              <a:avLst/>
              <a:gdLst/>
              <a:ahLst/>
              <a:cxnLst/>
              <a:rect l="l" t="t" r="r" b="b"/>
              <a:pathLst>
                <a:path w="1346443" h="189849">
                  <a:moveTo>
                    <a:pt x="77233" y="0"/>
                  </a:moveTo>
                  <a:lnTo>
                    <a:pt x="1269210" y="0"/>
                  </a:lnTo>
                  <a:cubicBezTo>
                    <a:pt x="1289694" y="0"/>
                    <a:pt x="1309338" y="8137"/>
                    <a:pt x="1323822" y="22621"/>
                  </a:cubicBezTo>
                  <a:cubicBezTo>
                    <a:pt x="1338306" y="37105"/>
                    <a:pt x="1346443" y="56750"/>
                    <a:pt x="1346443" y="77233"/>
                  </a:cubicBezTo>
                  <a:lnTo>
                    <a:pt x="1346443" y="112616"/>
                  </a:lnTo>
                  <a:cubicBezTo>
                    <a:pt x="1346443" y="133099"/>
                    <a:pt x="1338306" y="152744"/>
                    <a:pt x="1323822" y="167228"/>
                  </a:cubicBezTo>
                  <a:cubicBezTo>
                    <a:pt x="1309338" y="181712"/>
                    <a:pt x="1289694" y="189849"/>
                    <a:pt x="1269210" y="189849"/>
                  </a:cubicBezTo>
                  <a:lnTo>
                    <a:pt x="77233" y="189849"/>
                  </a:lnTo>
                  <a:cubicBezTo>
                    <a:pt x="34579" y="189849"/>
                    <a:pt x="0" y="155270"/>
                    <a:pt x="0" y="112616"/>
                  </a:cubicBezTo>
                  <a:lnTo>
                    <a:pt x="0" y="77233"/>
                  </a:lnTo>
                  <a:cubicBezTo>
                    <a:pt x="0" y="56750"/>
                    <a:pt x="8137" y="37105"/>
                    <a:pt x="22621" y="22621"/>
                  </a:cubicBezTo>
                  <a:cubicBezTo>
                    <a:pt x="37105" y="8137"/>
                    <a:pt x="56750" y="0"/>
                    <a:pt x="772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46443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36457" y="2074227"/>
            <a:ext cx="278501" cy="27850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14983" y="2074227"/>
            <a:ext cx="278501" cy="278501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56621" y="2074227"/>
            <a:ext cx="278501" cy="278501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9228" y="2835425"/>
            <a:ext cx="17353972" cy="2933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99"/>
              </a:lnSpc>
            </a:pPr>
            <a:r>
              <a:rPr lang="en-US" sz="7499" spc="-299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Optimizing Walmart Sales Performance : Predictive Modeling Using Key Business Indicators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7745" y="7677191"/>
            <a:ext cx="4419028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 spc="245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HEMANTH KUMAR KOTTAPALLI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113642" y="8429031"/>
            <a:ext cx="5145658" cy="720832"/>
            <a:chOff x="0" y="0"/>
            <a:chExt cx="1355235" cy="1898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5235" cy="189849"/>
            </a:xfrm>
            <a:custGeom>
              <a:avLst/>
              <a:gdLst/>
              <a:ahLst/>
              <a:cxnLst/>
              <a:rect l="l" t="t" r="r" b="b"/>
              <a:pathLst>
                <a:path w="1355235" h="189849">
                  <a:moveTo>
                    <a:pt x="76732" y="0"/>
                  </a:moveTo>
                  <a:lnTo>
                    <a:pt x="1278503" y="0"/>
                  </a:lnTo>
                  <a:cubicBezTo>
                    <a:pt x="1320881" y="0"/>
                    <a:pt x="1355235" y="34354"/>
                    <a:pt x="1355235" y="76732"/>
                  </a:cubicBezTo>
                  <a:lnTo>
                    <a:pt x="1355235" y="113117"/>
                  </a:lnTo>
                  <a:cubicBezTo>
                    <a:pt x="1355235" y="155495"/>
                    <a:pt x="1320881" y="189849"/>
                    <a:pt x="1278503" y="189849"/>
                  </a:cubicBezTo>
                  <a:lnTo>
                    <a:pt x="76732" y="189849"/>
                  </a:lnTo>
                  <a:cubicBezTo>
                    <a:pt x="34354" y="189849"/>
                    <a:pt x="0" y="155495"/>
                    <a:pt x="0" y="113117"/>
                  </a:cubicBezTo>
                  <a:lnTo>
                    <a:pt x="0" y="76732"/>
                  </a:lnTo>
                  <a:cubicBezTo>
                    <a:pt x="0" y="34354"/>
                    <a:pt x="34354" y="0"/>
                    <a:pt x="767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55235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113642" y="9366911"/>
            <a:ext cx="5207235" cy="720832"/>
            <a:chOff x="0" y="0"/>
            <a:chExt cx="1371453" cy="1898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1453" cy="189849"/>
            </a:xfrm>
            <a:custGeom>
              <a:avLst/>
              <a:gdLst/>
              <a:ahLst/>
              <a:cxnLst/>
              <a:rect l="l" t="t" r="r" b="b"/>
              <a:pathLst>
                <a:path w="1371453" h="189849">
                  <a:moveTo>
                    <a:pt x="75825" y="0"/>
                  </a:moveTo>
                  <a:lnTo>
                    <a:pt x="1295628" y="0"/>
                  </a:lnTo>
                  <a:cubicBezTo>
                    <a:pt x="1315738" y="0"/>
                    <a:pt x="1335024" y="7989"/>
                    <a:pt x="1349244" y="22209"/>
                  </a:cubicBezTo>
                  <a:cubicBezTo>
                    <a:pt x="1363464" y="36429"/>
                    <a:pt x="1371453" y="55715"/>
                    <a:pt x="1371453" y="75825"/>
                  </a:cubicBezTo>
                  <a:lnTo>
                    <a:pt x="1371453" y="114024"/>
                  </a:lnTo>
                  <a:cubicBezTo>
                    <a:pt x="1371453" y="134134"/>
                    <a:pt x="1363464" y="153420"/>
                    <a:pt x="1349244" y="167640"/>
                  </a:cubicBezTo>
                  <a:cubicBezTo>
                    <a:pt x="1335024" y="181860"/>
                    <a:pt x="1315738" y="189849"/>
                    <a:pt x="1295628" y="189849"/>
                  </a:cubicBezTo>
                  <a:lnTo>
                    <a:pt x="75825" y="189849"/>
                  </a:lnTo>
                  <a:cubicBezTo>
                    <a:pt x="55715" y="189849"/>
                    <a:pt x="36429" y="181860"/>
                    <a:pt x="22209" y="167640"/>
                  </a:cubicBezTo>
                  <a:cubicBezTo>
                    <a:pt x="7989" y="153420"/>
                    <a:pt x="0" y="134134"/>
                    <a:pt x="0" y="114024"/>
                  </a:cubicBezTo>
                  <a:lnTo>
                    <a:pt x="0" y="75825"/>
                  </a:lnTo>
                  <a:cubicBezTo>
                    <a:pt x="0" y="55715"/>
                    <a:pt x="7989" y="36429"/>
                    <a:pt x="22209" y="22209"/>
                  </a:cubicBezTo>
                  <a:cubicBezTo>
                    <a:pt x="36429" y="7989"/>
                    <a:pt x="55715" y="0"/>
                    <a:pt x="758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71453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356627" y="8589740"/>
            <a:ext cx="4626307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 spc="245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SAI VAMSHIDHAR REDDY SALLA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-3592680" y="7888451"/>
            <a:ext cx="366794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 spc="245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HEMENATH KOTTAPALLI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35808" y="9501871"/>
            <a:ext cx="366794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 spc="245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SRIRAM REDDY VANGA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27C3845-B8A9-7191-B669-792EDD10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12" y="9844136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/>
              <a:pPr algn="l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712" b="-757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462810" y="-259381"/>
            <a:ext cx="4754847" cy="10805761"/>
            <a:chOff x="0" y="0"/>
            <a:chExt cx="3093720" cy="70307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93720" cy="7030720"/>
            </a:xfrm>
            <a:custGeom>
              <a:avLst/>
              <a:gdLst/>
              <a:ahLst/>
              <a:cxnLst/>
              <a:rect l="l" t="t" r="r" b="b"/>
              <a:pathLst>
                <a:path w="3093720" h="7030720">
                  <a:moveTo>
                    <a:pt x="0" y="0"/>
                  </a:moveTo>
                  <a:lnTo>
                    <a:pt x="2293620" y="0"/>
                  </a:lnTo>
                  <a:cubicBezTo>
                    <a:pt x="2735580" y="0"/>
                    <a:pt x="3093720" y="358140"/>
                    <a:pt x="3093720" y="800100"/>
                  </a:cubicBezTo>
                  <a:lnTo>
                    <a:pt x="3093720" y="7030720"/>
                  </a:lnTo>
                  <a:lnTo>
                    <a:pt x="0" y="703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8079" r="-1028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rot="-9004511">
            <a:off x="766945" y="1600369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3" y="0"/>
                </a:lnTo>
                <a:lnTo>
                  <a:pt x="14220833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rot="-9088373">
            <a:off x="9712045" y="-7551136"/>
            <a:ext cx="13128058" cy="13966019"/>
          </a:xfrm>
          <a:custGeom>
            <a:avLst/>
            <a:gdLst/>
            <a:ahLst/>
            <a:cxnLst/>
            <a:rect l="l" t="t" r="r" b="b"/>
            <a:pathLst>
              <a:path w="13128058" h="13966019">
                <a:moveTo>
                  <a:pt x="0" y="0"/>
                </a:moveTo>
                <a:lnTo>
                  <a:pt x="13128058" y="0"/>
                </a:lnTo>
                <a:lnTo>
                  <a:pt x="13128058" y="13966019"/>
                </a:lnTo>
                <a:lnTo>
                  <a:pt x="0" y="13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87617" y="3520420"/>
            <a:ext cx="6496276" cy="408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Business Strategy &amp; Objectives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Data Transformation Process</a:t>
            </a:r>
          </a:p>
          <a:p>
            <a:pPr algn="l">
              <a:lnSpc>
                <a:spcPts val="8250"/>
              </a:lnSpc>
            </a:pPr>
            <a:endParaRPr lang="en-US" sz="3300" spc="-132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51693" y="3510895"/>
            <a:ext cx="635923" cy="408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01.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02.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03.</a:t>
            </a:r>
          </a:p>
          <a:p>
            <a:pPr algn="l">
              <a:lnSpc>
                <a:spcPts val="8250"/>
              </a:lnSpc>
            </a:pPr>
            <a:endParaRPr lang="en-US" sz="3300" spc="-132">
              <a:solidFill>
                <a:srgbClr val="F3DD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97960" y="3510895"/>
            <a:ext cx="635923" cy="408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04.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05.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06.</a:t>
            </a:r>
          </a:p>
          <a:p>
            <a:pPr algn="l">
              <a:lnSpc>
                <a:spcPts val="8250"/>
              </a:lnSpc>
            </a:pPr>
            <a:endParaRPr lang="en-US" sz="3300" spc="-132">
              <a:solidFill>
                <a:srgbClr val="F3DD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82003" y="3510895"/>
            <a:ext cx="5109111" cy="408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Key Insights &amp; Analysis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Model Evaluation</a:t>
            </a:r>
          </a:p>
          <a:p>
            <a:pPr algn="l">
              <a:lnSpc>
                <a:spcPts val="8250"/>
              </a:lnSpc>
            </a:pPr>
            <a:r>
              <a:rPr lang="en-US" sz="3300" spc="-132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  <a:p>
            <a:pPr algn="l">
              <a:lnSpc>
                <a:spcPts val="8250"/>
              </a:lnSpc>
            </a:pPr>
            <a:endParaRPr lang="en-US" sz="3300" spc="-132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851693" y="4745189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1551202" y="4745189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851693" y="5781655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551202" y="5781655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551202" y="6891557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851693" y="1525923"/>
            <a:ext cx="12118294" cy="154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4"/>
              </a:lnSpc>
            </a:pPr>
            <a:r>
              <a:rPr lang="en-US" sz="9584" spc="-383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Table Of Content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851693" y="6882032"/>
            <a:ext cx="5717544" cy="0"/>
          </a:xfrm>
          <a:prstGeom prst="line">
            <a:avLst/>
          </a:prstGeom>
          <a:ln w="19050" cap="flat">
            <a:solidFill>
              <a:srgbClr val="37B59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F18704F-7FB6-5B0B-989A-F9CAAF60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61315" y="9943933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705605">
            <a:off x="-3202286" y="-1135564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9088373">
            <a:off x="2001925" y="4259597"/>
            <a:ext cx="13128058" cy="13966019"/>
          </a:xfrm>
          <a:custGeom>
            <a:avLst/>
            <a:gdLst/>
            <a:ahLst/>
            <a:cxnLst/>
            <a:rect l="l" t="t" r="r" b="b"/>
            <a:pathLst>
              <a:path w="13128058" h="13966019">
                <a:moveTo>
                  <a:pt x="0" y="0"/>
                </a:moveTo>
                <a:lnTo>
                  <a:pt x="13128058" y="0"/>
                </a:lnTo>
                <a:lnTo>
                  <a:pt x="13128058" y="13966019"/>
                </a:lnTo>
                <a:lnTo>
                  <a:pt x="0" y="13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794495">
            <a:off x="-3987435" y="-529935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116119" y="-1079353"/>
            <a:ext cx="8286064" cy="11972436"/>
            <a:chOff x="0" y="0"/>
            <a:chExt cx="4356481" cy="6294628"/>
          </a:xfrm>
        </p:grpSpPr>
        <p:sp>
          <p:nvSpPr>
            <p:cNvPr id="6" name="Freeform 6"/>
            <p:cNvSpPr/>
            <p:nvPr/>
          </p:nvSpPr>
          <p:spPr>
            <a:xfrm>
              <a:off x="-31496" y="-27432"/>
              <a:ext cx="4387850" cy="6322060"/>
            </a:xfrm>
            <a:custGeom>
              <a:avLst/>
              <a:gdLst/>
              <a:ahLst/>
              <a:cxnLst/>
              <a:rect l="l" t="t" r="r" b="b"/>
              <a:pathLst>
                <a:path w="4387850" h="6322060">
                  <a:moveTo>
                    <a:pt x="4102481" y="509397"/>
                  </a:moveTo>
                  <a:cubicBezTo>
                    <a:pt x="4259453" y="543560"/>
                    <a:pt x="4387850" y="702945"/>
                    <a:pt x="4387850" y="863600"/>
                  </a:cubicBezTo>
                  <a:lnTo>
                    <a:pt x="4387850" y="6029960"/>
                  </a:lnTo>
                  <a:cubicBezTo>
                    <a:pt x="4387850" y="6190615"/>
                    <a:pt x="4256405" y="6322060"/>
                    <a:pt x="4095750" y="6322060"/>
                  </a:cubicBezTo>
                  <a:lnTo>
                    <a:pt x="258699" y="6322060"/>
                  </a:lnTo>
                  <a:cubicBezTo>
                    <a:pt x="98044" y="6322060"/>
                    <a:pt x="0" y="6194933"/>
                    <a:pt x="40767" y="6039485"/>
                  </a:cubicBezTo>
                  <a:lnTo>
                    <a:pt x="1560449" y="254508"/>
                  </a:lnTo>
                  <a:cubicBezTo>
                    <a:pt x="1601216" y="99187"/>
                    <a:pt x="1763141" y="0"/>
                    <a:pt x="1920113" y="34163"/>
                  </a:cubicBezTo>
                  <a:lnTo>
                    <a:pt x="4102481" y="509397"/>
                  </a:lnTo>
                  <a:close/>
                </a:path>
              </a:pathLst>
            </a:custGeom>
            <a:blipFill>
              <a:blip r:embed="rId4"/>
              <a:stretch>
                <a:fillRect t="-2528" b="-25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40969" y="2963055"/>
            <a:ext cx="278501" cy="27850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40969" y="5276288"/>
            <a:ext cx="278501" cy="27850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26379" y="7493179"/>
            <a:ext cx="253841" cy="25384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21842" y="290900"/>
            <a:ext cx="13230450" cy="253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784" spc="-351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Strategic Insights and Business Goals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527306"/>
            <a:ext cx="9581885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Peak seasons present significant revenue potential but require precise promotional strategies to capitalize on dynamic consumer behavior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0432" y="2747893"/>
            <a:ext cx="399921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Opportunity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0432" y="7276247"/>
            <a:ext cx="399921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20432" y="5071686"/>
            <a:ext cx="399921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132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Challenge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78466"/>
            <a:ext cx="9581885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Current promotional efforts often miss the mark, leading to inefficiencies and untapped growth opportunities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170004"/>
            <a:ext cx="9581885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Leverage advanced analytics to forecast sales trends and optimize promotions, driving profitability and customer satisfaction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380676-3D16-C5A5-6259-B87E4F5B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" y="9850541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80827">
            <a:off x="-3106605" y="-2275516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7"/>
                </a:lnTo>
                <a:lnTo>
                  <a:pt x="0" y="14203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794495">
            <a:off x="-5351897" y="4310298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1" y="0"/>
                </a:lnTo>
                <a:lnTo>
                  <a:pt x="10589271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74314" y="6408206"/>
            <a:ext cx="2042588" cy="204258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63510" y="6408206"/>
            <a:ext cx="2042588" cy="204258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34369" y="3746245"/>
            <a:ext cx="2042588" cy="204258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16260" y="3746245"/>
            <a:ext cx="2042588" cy="2042588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 rot="-9088373">
            <a:off x="11310460" y="-7323236"/>
            <a:ext cx="13128058" cy="13966019"/>
          </a:xfrm>
          <a:custGeom>
            <a:avLst/>
            <a:gdLst/>
            <a:ahLst/>
            <a:cxnLst/>
            <a:rect l="l" t="t" r="r" b="b"/>
            <a:pathLst>
              <a:path w="13128058" h="13966019">
                <a:moveTo>
                  <a:pt x="0" y="0"/>
                </a:moveTo>
                <a:lnTo>
                  <a:pt x="13128058" y="0"/>
                </a:lnTo>
                <a:lnTo>
                  <a:pt x="13128058" y="13966019"/>
                </a:lnTo>
                <a:lnTo>
                  <a:pt x="0" y="13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5400000">
            <a:off x="5353620" y="575423"/>
            <a:ext cx="4061172" cy="10939184"/>
          </a:xfrm>
          <a:custGeom>
            <a:avLst/>
            <a:gdLst/>
            <a:ahLst/>
            <a:cxnLst/>
            <a:rect l="l" t="t" r="r" b="b"/>
            <a:pathLst>
              <a:path w="4061172" h="10939184">
                <a:moveTo>
                  <a:pt x="0" y="0"/>
                </a:moveTo>
                <a:lnTo>
                  <a:pt x="4061172" y="0"/>
                </a:lnTo>
                <a:lnTo>
                  <a:pt x="4061172" y="10939184"/>
                </a:lnTo>
                <a:lnTo>
                  <a:pt x="0" y="10939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422039" y="1502559"/>
            <a:ext cx="9443922" cy="154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4"/>
              </a:lnSpc>
            </a:pPr>
            <a:r>
              <a:rPr lang="en-US" sz="9584" spc="-383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Dataset Profile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28046" y="7236178"/>
            <a:ext cx="935123" cy="40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594" b="1" spc="-10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88101" y="4555167"/>
            <a:ext cx="935123" cy="40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594" b="1" spc="-10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Test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77516" y="7236178"/>
            <a:ext cx="1532967" cy="40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594" b="1" spc="-10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69992" y="4555167"/>
            <a:ext cx="1074860" cy="40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4"/>
              </a:lnSpc>
            </a:pPr>
            <a:r>
              <a:rPr lang="en-US" sz="2594" b="1" spc="-10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Stores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2729" y="6200619"/>
            <a:ext cx="4105282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CONTAINS HISTORICAL SALES DATA FOR WALMART STORES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0978" y="3585804"/>
            <a:ext cx="4105282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INCLUDES FUTURE PERIODS FOR SALES PREDICTION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1676" y="4351632"/>
            <a:ext cx="410528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DETAILS ABOUT WALMART STORES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00676" y="6136993"/>
            <a:ext cx="410528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INCLUDES INFORMATION ON ECONOMIC AND PROMOTIONAL FACTORS.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20103" y="7128354"/>
            <a:ext cx="4105282" cy="147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Store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Date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and IsHoliday</a:t>
            </a: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 b="1" spc="-10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Weekly_Sales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64049" y="4374510"/>
            <a:ext cx="410528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Store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 IsHoliday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44572" y="4768863"/>
            <a:ext cx="4105282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Store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Type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Size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44223" y="7249160"/>
            <a:ext cx="4105282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Date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Temperature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Fuel_Price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CPI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Unemployment</a:t>
            </a:r>
          </a:p>
          <a:p>
            <a:pPr marL="410213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-76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MarkDown1-5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579D717-2030-2990-9FB2-C8807C37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9909671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061751">
            <a:off x="5364107" y="-3936538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047732">
            <a:off x="9504293" y="-4603891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1" y="0"/>
                </a:lnTo>
                <a:lnTo>
                  <a:pt x="10589271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047732">
            <a:off x="-574452" y="5118119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07411" y="4439672"/>
            <a:ext cx="4865706" cy="4818628"/>
            <a:chOff x="0" y="0"/>
            <a:chExt cx="1281503" cy="1269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1503" cy="1269104"/>
            </a:xfrm>
            <a:custGeom>
              <a:avLst/>
              <a:gdLst/>
              <a:ahLst/>
              <a:cxnLst/>
              <a:rect l="l" t="t" r="r" b="b"/>
              <a:pathLst>
                <a:path w="1281503" h="1269104">
                  <a:moveTo>
                    <a:pt x="39778" y="0"/>
                  </a:moveTo>
                  <a:lnTo>
                    <a:pt x="1241725" y="0"/>
                  </a:lnTo>
                  <a:cubicBezTo>
                    <a:pt x="1263694" y="0"/>
                    <a:pt x="1281503" y="17809"/>
                    <a:pt x="1281503" y="39778"/>
                  </a:cubicBezTo>
                  <a:lnTo>
                    <a:pt x="1281503" y="1229326"/>
                  </a:lnTo>
                  <a:cubicBezTo>
                    <a:pt x="1281503" y="1239875"/>
                    <a:pt x="1277312" y="1249993"/>
                    <a:pt x="1269852" y="1257453"/>
                  </a:cubicBezTo>
                  <a:cubicBezTo>
                    <a:pt x="1262392" y="1264913"/>
                    <a:pt x="1252275" y="1269104"/>
                    <a:pt x="1241725" y="1269104"/>
                  </a:cubicBezTo>
                  <a:lnTo>
                    <a:pt x="39778" y="1269104"/>
                  </a:lnTo>
                  <a:cubicBezTo>
                    <a:pt x="29228" y="1269104"/>
                    <a:pt x="19111" y="1264913"/>
                    <a:pt x="11651" y="1257453"/>
                  </a:cubicBezTo>
                  <a:cubicBezTo>
                    <a:pt x="4191" y="1249993"/>
                    <a:pt x="0" y="1239875"/>
                    <a:pt x="0" y="1229326"/>
                  </a:cubicBezTo>
                  <a:lnTo>
                    <a:pt x="0" y="39778"/>
                  </a:lnTo>
                  <a:cubicBezTo>
                    <a:pt x="0" y="29228"/>
                    <a:pt x="4191" y="19111"/>
                    <a:pt x="11651" y="11651"/>
                  </a:cubicBezTo>
                  <a:cubicBezTo>
                    <a:pt x="19111" y="4191"/>
                    <a:pt x="29228" y="0"/>
                    <a:pt x="397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B594">
                    <a:alpha val="100000"/>
                  </a:srgbClr>
                </a:gs>
                <a:gs pos="100000">
                  <a:srgbClr val="62DF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81503" cy="1326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44667" y="4439672"/>
            <a:ext cx="4828218" cy="4818628"/>
            <a:chOff x="0" y="0"/>
            <a:chExt cx="1271629" cy="1269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1629" cy="1269104"/>
            </a:xfrm>
            <a:custGeom>
              <a:avLst/>
              <a:gdLst/>
              <a:ahLst/>
              <a:cxnLst/>
              <a:rect l="l" t="t" r="r" b="b"/>
              <a:pathLst>
                <a:path w="1271629" h="1269104">
                  <a:moveTo>
                    <a:pt x="40087" y="0"/>
                  </a:moveTo>
                  <a:lnTo>
                    <a:pt x="1231543" y="0"/>
                  </a:lnTo>
                  <a:cubicBezTo>
                    <a:pt x="1242174" y="0"/>
                    <a:pt x="1252371" y="4223"/>
                    <a:pt x="1259888" y="11741"/>
                  </a:cubicBezTo>
                  <a:cubicBezTo>
                    <a:pt x="1267406" y="19259"/>
                    <a:pt x="1271629" y="29455"/>
                    <a:pt x="1271629" y="40087"/>
                  </a:cubicBezTo>
                  <a:lnTo>
                    <a:pt x="1271629" y="1229017"/>
                  </a:lnTo>
                  <a:cubicBezTo>
                    <a:pt x="1271629" y="1251156"/>
                    <a:pt x="1253682" y="1269104"/>
                    <a:pt x="1231543" y="1269104"/>
                  </a:cubicBezTo>
                  <a:lnTo>
                    <a:pt x="40087" y="1269104"/>
                  </a:lnTo>
                  <a:cubicBezTo>
                    <a:pt x="29455" y="1269104"/>
                    <a:pt x="19259" y="1264880"/>
                    <a:pt x="11741" y="1257362"/>
                  </a:cubicBezTo>
                  <a:cubicBezTo>
                    <a:pt x="4223" y="1249845"/>
                    <a:pt x="0" y="1239648"/>
                    <a:pt x="0" y="1229017"/>
                  </a:cubicBezTo>
                  <a:lnTo>
                    <a:pt x="0" y="40087"/>
                  </a:lnTo>
                  <a:cubicBezTo>
                    <a:pt x="0" y="29455"/>
                    <a:pt x="4223" y="19259"/>
                    <a:pt x="11741" y="11741"/>
                  </a:cubicBezTo>
                  <a:cubicBezTo>
                    <a:pt x="19259" y="4223"/>
                    <a:pt x="29455" y="0"/>
                    <a:pt x="400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B594">
                    <a:alpha val="100000"/>
                  </a:srgbClr>
                </a:gs>
                <a:gs pos="100000">
                  <a:srgbClr val="62DFB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71629" cy="1326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66682" y="4439672"/>
            <a:ext cx="4664494" cy="4818628"/>
            <a:chOff x="0" y="0"/>
            <a:chExt cx="1228509" cy="12691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8509" cy="1269104"/>
            </a:xfrm>
            <a:custGeom>
              <a:avLst/>
              <a:gdLst/>
              <a:ahLst/>
              <a:cxnLst/>
              <a:rect l="l" t="t" r="r" b="b"/>
              <a:pathLst>
                <a:path w="1228509" h="1269104">
                  <a:moveTo>
                    <a:pt x="41494" y="0"/>
                  </a:moveTo>
                  <a:lnTo>
                    <a:pt x="1187015" y="0"/>
                  </a:lnTo>
                  <a:cubicBezTo>
                    <a:pt x="1209931" y="0"/>
                    <a:pt x="1228509" y="18577"/>
                    <a:pt x="1228509" y="41494"/>
                  </a:cubicBezTo>
                  <a:lnTo>
                    <a:pt x="1228509" y="1227610"/>
                  </a:lnTo>
                  <a:cubicBezTo>
                    <a:pt x="1228509" y="1238615"/>
                    <a:pt x="1224137" y="1249169"/>
                    <a:pt x="1216355" y="1256950"/>
                  </a:cubicBezTo>
                  <a:cubicBezTo>
                    <a:pt x="1208574" y="1264732"/>
                    <a:pt x="1198020" y="1269104"/>
                    <a:pt x="1187015" y="1269104"/>
                  </a:cubicBezTo>
                  <a:lnTo>
                    <a:pt x="41494" y="1269104"/>
                  </a:lnTo>
                  <a:cubicBezTo>
                    <a:pt x="30489" y="1269104"/>
                    <a:pt x="19935" y="1264732"/>
                    <a:pt x="12153" y="1256950"/>
                  </a:cubicBezTo>
                  <a:cubicBezTo>
                    <a:pt x="4372" y="1249169"/>
                    <a:pt x="0" y="1238615"/>
                    <a:pt x="0" y="1227610"/>
                  </a:cubicBezTo>
                  <a:lnTo>
                    <a:pt x="0" y="41494"/>
                  </a:lnTo>
                  <a:cubicBezTo>
                    <a:pt x="0" y="30489"/>
                    <a:pt x="4372" y="19935"/>
                    <a:pt x="12153" y="12153"/>
                  </a:cubicBezTo>
                  <a:cubicBezTo>
                    <a:pt x="19935" y="4372"/>
                    <a:pt x="30489" y="0"/>
                    <a:pt x="414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B594">
                    <a:alpha val="100000"/>
                  </a:srgbClr>
                </a:gs>
                <a:gs pos="100000">
                  <a:srgbClr val="62DFB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228509" cy="1326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07411" y="3669816"/>
            <a:ext cx="278501" cy="278501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3764" y="3669816"/>
            <a:ext cx="278501" cy="278501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653235" y="3669816"/>
            <a:ext cx="278501" cy="27850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66250" y="3548556"/>
            <a:ext cx="4898735" cy="51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115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Merged Dataset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10976" y="3313715"/>
            <a:ext cx="4361909" cy="103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115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Data Quality and Imputation Process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12711" y="3255338"/>
            <a:ext cx="4786823" cy="103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115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Feature Engineering and Data Standardization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1034" y="4683859"/>
            <a:ext cx="4393483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Dataset Integration: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Train and test datasets merged with feature and store data.</a:t>
            </a:r>
          </a:p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Training Dataset: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Records: 421,570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Variables: 17</a:t>
            </a:r>
          </a:p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Testing Dataset: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Records: 115,064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Variables: 16</a:t>
            </a:r>
          </a:p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Comprehensive datasets ready for analysis and forecasting.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7821" y="4775393"/>
            <a:ext cx="4361909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Columns with Missing Values: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CPI, Unemployment, and Markdown</a:t>
            </a:r>
          </a:p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Imputation Techniques: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Missing values were replaced with medians.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Negatives and remaining missing values were replaced with 0.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Ensured complete and clean datasets for accurate modeling.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75010" y="4683859"/>
            <a:ext cx="4447837" cy="350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5064" lvl="1" indent="-237532" algn="l">
              <a:lnSpc>
                <a:spcPts val="3080"/>
              </a:lnSpc>
              <a:buFont typeface="Arial"/>
              <a:buChar char="•"/>
            </a:pPr>
            <a:r>
              <a:rPr lang="en-US" sz="2200" spc="-88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Seasonality Features Created:</a:t>
            </a:r>
          </a:p>
          <a:p>
            <a:pPr algn="l">
              <a:lnSpc>
                <a:spcPts val="3080"/>
              </a:lnSpc>
            </a:pPr>
            <a:r>
              <a:rPr lang="en-US" sz="2200" spc="-88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Week, Month, Quarter, and Year</a:t>
            </a:r>
          </a:p>
          <a:p>
            <a:pPr algn="l">
              <a:lnSpc>
                <a:spcPts val="3080"/>
              </a:lnSpc>
            </a:pPr>
            <a:endParaRPr lang="en-US" sz="2200" spc="-88">
              <a:solidFill>
                <a:srgbClr val="04060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</a:pPr>
            <a:r>
              <a:rPr lang="en-US" sz="2200" spc="-88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Holiday Indicators:</a:t>
            </a:r>
          </a:p>
          <a:p>
            <a:pPr marL="475064" lvl="1" indent="-237532" algn="l">
              <a:lnSpc>
                <a:spcPts val="3080"/>
              </a:lnSpc>
              <a:buFont typeface="Arial"/>
              <a:buChar char="•"/>
            </a:pPr>
            <a:r>
              <a:rPr lang="en-US" sz="2200" spc="-88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Unified into a single IsHoliday column.</a:t>
            </a:r>
          </a:p>
          <a:p>
            <a:pPr algn="l">
              <a:lnSpc>
                <a:spcPts val="3080"/>
              </a:lnSpc>
            </a:pPr>
            <a:endParaRPr lang="en-US" sz="2200" spc="-88">
              <a:solidFill>
                <a:srgbClr val="04060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5064" lvl="1" indent="-237532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pc="-88">
                <a:solidFill>
                  <a:srgbClr val="040606"/>
                </a:solidFill>
                <a:latin typeface="Poppins"/>
                <a:ea typeface="Poppins"/>
                <a:cs typeface="Poppins"/>
                <a:sym typeface="Poppins"/>
              </a:rPr>
              <a:t>Clean and structured dataset ready for analysis.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6414" y="380622"/>
            <a:ext cx="15724722" cy="275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4"/>
              </a:lnSpc>
            </a:pPr>
            <a:r>
              <a:rPr lang="en-US" sz="9584" spc="-383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Data Preparation and Transformation Overview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3055F11-A878-D17E-09E7-4FBFE68B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611" y="9843264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42650">
            <a:off x="-240430" y="-5114540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830136">
            <a:off x="9279723" y="3108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047732">
            <a:off x="-1468572" y="-1385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666988" y="2806939"/>
            <a:ext cx="9373141" cy="5860882"/>
          </a:xfrm>
          <a:custGeom>
            <a:avLst/>
            <a:gdLst/>
            <a:ahLst/>
            <a:cxnLst/>
            <a:rect l="l" t="t" r="r" b="b"/>
            <a:pathLst>
              <a:path w="9373141" h="5860882">
                <a:moveTo>
                  <a:pt x="0" y="0"/>
                </a:moveTo>
                <a:lnTo>
                  <a:pt x="9373141" y="0"/>
                </a:lnTo>
                <a:lnTo>
                  <a:pt x="9373141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60150" y="3221161"/>
            <a:ext cx="8115300" cy="5032437"/>
          </a:xfrm>
          <a:custGeom>
            <a:avLst/>
            <a:gdLst/>
            <a:ahLst/>
            <a:cxnLst/>
            <a:rect l="l" t="t" r="r" b="b"/>
            <a:pathLst>
              <a:path w="8115300" h="5032437">
                <a:moveTo>
                  <a:pt x="0" y="0"/>
                </a:moveTo>
                <a:lnTo>
                  <a:pt x="8115300" y="0"/>
                </a:lnTo>
                <a:lnTo>
                  <a:pt x="8115300" y="5032437"/>
                </a:lnTo>
                <a:lnTo>
                  <a:pt x="0" y="50324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819400" y="408806"/>
            <a:ext cx="13921695" cy="154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4"/>
              </a:lnSpc>
            </a:pPr>
            <a:r>
              <a:rPr lang="en-US" sz="9584" spc="-383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Data Insights and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266722-9D76-6050-9A49-7553C8B2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" y="9891052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42650">
            <a:off x="-240430" y="-5114540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830136">
            <a:off x="9279723" y="3108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047732">
            <a:off x="-1468572" y="-1385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26266" y="3317190"/>
            <a:ext cx="8080400" cy="4317771"/>
          </a:xfrm>
          <a:custGeom>
            <a:avLst/>
            <a:gdLst/>
            <a:ahLst/>
            <a:cxnLst/>
            <a:rect l="l" t="t" r="r" b="b"/>
            <a:pathLst>
              <a:path w="8080400" h="4317771">
                <a:moveTo>
                  <a:pt x="0" y="0"/>
                </a:moveTo>
                <a:lnTo>
                  <a:pt x="8080400" y="0"/>
                </a:lnTo>
                <a:lnTo>
                  <a:pt x="8080400" y="4317771"/>
                </a:lnTo>
                <a:lnTo>
                  <a:pt x="0" y="4317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969330" y="2156718"/>
            <a:ext cx="9144000" cy="7442199"/>
          </a:xfrm>
          <a:custGeom>
            <a:avLst/>
            <a:gdLst/>
            <a:ahLst/>
            <a:cxnLst/>
            <a:rect l="l" t="t" r="r" b="b"/>
            <a:pathLst>
              <a:path w="9144000" h="7442199">
                <a:moveTo>
                  <a:pt x="0" y="0"/>
                </a:moveTo>
                <a:lnTo>
                  <a:pt x="9144000" y="0"/>
                </a:lnTo>
                <a:lnTo>
                  <a:pt x="9144000" y="7442199"/>
                </a:lnTo>
                <a:lnTo>
                  <a:pt x="0" y="7442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8" r="-8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819400" y="409108"/>
            <a:ext cx="13921695" cy="154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4"/>
              </a:lnSpc>
            </a:pPr>
            <a:r>
              <a:rPr lang="en-US" sz="9584" spc="-383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Data Insights and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9FC6E7-BFB7-44DD-9294-3EA9E5EA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3860" y="979170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103251">
            <a:off x="-2411095" y="-1800193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047732">
            <a:off x="9231546" y="-3123828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301111" y="2641810"/>
            <a:ext cx="4642084" cy="720832"/>
            <a:chOff x="0" y="0"/>
            <a:chExt cx="1222606" cy="1898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2606" cy="189849"/>
            </a:xfrm>
            <a:custGeom>
              <a:avLst/>
              <a:gdLst/>
              <a:ahLst/>
              <a:cxnLst/>
              <a:rect l="l" t="t" r="r" b="b"/>
              <a:pathLst>
                <a:path w="1222606" h="189849">
                  <a:moveTo>
                    <a:pt x="85056" y="0"/>
                  </a:moveTo>
                  <a:lnTo>
                    <a:pt x="1137550" y="0"/>
                  </a:lnTo>
                  <a:cubicBezTo>
                    <a:pt x="1184526" y="0"/>
                    <a:pt x="1222606" y="38081"/>
                    <a:pt x="1222606" y="85056"/>
                  </a:cubicBezTo>
                  <a:lnTo>
                    <a:pt x="1222606" y="104793"/>
                  </a:lnTo>
                  <a:cubicBezTo>
                    <a:pt x="1222606" y="151768"/>
                    <a:pt x="1184526" y="189849"/>
                    <a:pt x="1137550" y="189849"/>
                  </a:cubicBezTo>
                  <a:lnTo>
                    <a:pt x="85056" y="189849"/>
                  </a:lnTo>
                  <a:cubicBezTo>
                    <a:pt x="38081" y="189849"/>
                    <a:pt x="0" y="151768"/>
                    <a:pt x="0" y="104793"/>
                  </a:cubicBezTo>
                  <a:lnTo>
                    <a:pt x="0" y="85056"/>
                  </a:lnTo>
                  <a:cubicBezTo>
                    <a:pt x="0" y="38081"/>
                    <a:pt x="38081" y="0"/>
                    <a:pt x="850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22606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915794" y="7092783"/>
            <a:ext cx="448023" cy="418902"/>
          </a:xfrm>
          <a:custGeom>
            <a:avLst/>
            <a:gdLst/>
            <a:ahLst/>
            <a:cxnLst/>
            <a:rect l="l" t="t" r="r" b="b"/>
            <a:pathLst>
              <a:path w="448023" h="418902">
                <a:moveTo>
                  <a:pt x="0" y="0"/>
                </a:moveTo>
                <a:lnTo>
                  <a:pt x="448023" y="0"/>
                </a:lnTo>
                <a:lnTo>
                  <a:pt x="448023" y="418902"/>
                </a:lnTo>
                <a:lnTo>
                  <a:pt x="0" y="418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1455" y="1439176"/>
            <a:ext cx="11859834" cy="935346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720295" y="7007058"/>
            <a:ext cx="2982835" cy="5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11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Excluded Factors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301111" y="7006692"/>
            <a:ext cx="4642084" cy="720832"/>
            <a:chOff x="0" y="0"/>
            <a:chExt cx="1222606" cy="189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2606" cy="189849"/>
            </a:xfrm>
            <a:custGeom>
              <a:avLst/>
              <a:gdLst/>
              <a:ahLst/>
              <a:cxnLst/>
              <a:rect l="l" t="t" r="r" b="b"/>
              <a:pathLst>
                <a:path w="1222606" h="189849">
                  <a:moveTo>
                    <a:pt x="85056" y="0"/>
                  </a:moveTo>
                  <a:lnTo>
                    <a:pt x="1137550" y="0"/>
                  </a:lnTo>
                  <a:cubicBezTo>
                    <a:pt x="1184526" y="0"/>
                    <a:pt x="1222606" y="38081"/>
                    <a:pt x="1222606" y="85056"/>
                  </a:cubicBezTo>
                  <a:lnTo>
                    <a:pt x="1222606" y="104793"/>
                  </a:lnTo>
                  <a:cubicBezTo>
                    <a:pt x="1222606" y="151768"/>
                    <a:pt x="1184526" y="189849"/>
                    <a:pt x="1137550" y="189849"/>
                  </a:cubicBezTo>
                  <a:lnTo>
                    <a:pt x="85056" y="189849"/>
                  </a:lnTo>
                  <a:cubicBezTo>
                    <a:pt x="38081" y="189849"/>
                    <a:pt x="0" y="151768"/>
                    <a:pt x="0" y="104793"/>
                  </a:cubicBezTo>
                  <a:lnTo>
                    <a:pt x="0" y="85056"/>
                  </a:lnTo>
                  <a:cubicBezTo>
                    <a:pt x="0" y="38081"/>
                    <a:pt x="38081" y="0"/>
                    <a:pt x="850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22606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012165" y="2791341"/>
            <a:ext cx="351652" cy="421771"/>
          </a:xfrm>
          <a:custGeom>
            <a:avLst/>
            <a:gdLst/>
            <a:ahLst/>
            <a:cxnLst/>
            <a:rect l="l" t="t" r="r" b="b"/>
            <a:pathLst>
              <a:path w="351652" h="421771">
                <a:moveTo>
                  <a:pt x="0" y="0"/>
                </a:moveTo>
                <a:lnTo>
                  <a:pt x="351652" y="0"/>
                </a:lnTo>
                <a:lnTo>
                  <a:pt x="351652" y="421771"/>
                </a:lnTo>
                <a:lnTo>
                  <a:pt x="0" y="4217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752173" y="2705616"/>
            <a:ext cx="2249339" cy="50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11">
                <a:solidFill>
                  <a:srgbClr val="F3DD52"/>
                </a:solidFill>
                <a:latin typeface="Poppins"/>
                <a:ea typeface="Poppins"/>
                <a:cs typeface="Poppins"/>
                <a:sym typeface="Poppins"/>
              </a:rPr>
              <a:t>Key Factors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6799" y="3610292"/>
            <a:ext cx="6394635" cy="300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Size: Strong impact due to store capacity and traffic.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CPI &amp; Unemployment: Reflect consumer spending trends.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Week: Captures seasonal shopping behavior.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Temperature &amp; </a:t>
            </a:r>
            <a:r>
              <a:rPr lang="en-US" sz="1899" spc="-75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Fuel_Price</a:t>
            </a: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: External factors influencing sales.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Markdown1, Markdown3, Markdown5, </a:t>
            </a:r>
            <a:r>
              <a:rPr lang="en-US" sz="1899" spc="-75" dirty="0" err="1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IsHoliday</a:t>
            </a:r>
            <a:r>
              <a:rPr lang="en-US" sz="1899" spc="-75" dirty="0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: Account for promotions and holiday effects.</a:t>
            </a:r>
          </a:p>
          <a:p>
            <a:pPr algn="l">
              <a:lnSpc>
                <a:spcPts val="2659"/>
              </a:lnSpc>
            </a:pPr>
            <a:endParaRPr lang="en-US" sz="1899" spc="-75" dirty="0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21057" y="408164"/>
            <a:ext cx="9901096" cy="154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4"/>
              </a:lnSpc>
            </a:pPr>
            <a:r>
              <a:rPr lang="en-US" sz="9584" spc="-383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Variable selection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86799" y="7975267"/>
            <a:ext cx="6394635" cy="134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Quarter &amp; Month: Minimal impact on weekly sales.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spc="-75">
                <a:solidFill>
                  <a:srgbClr val="D8D8D8"/>
                </a:solidFill>
                <a:latin typeface="Poppins"/>
                <a:ea typeface="Poppins"/>
                <a:cs typeface="Poppins"/>
                <a:sym typeface="Poppins"/>
              </a:rPr>
              <a:t>dept: High cardinality, increases complexity and risk of overfitting.</a:t>
            </a:r>
          </a:p>
          <a:p>
            <a:pPr algn="l">
              <a:lnSpc>
                <a:spcPts val="2659"/>
              </a:lnSpc>
            </a:pPr>
            <a:endParaRPr lang="en-US" sz="1899" spc="-75">
              <a:solidFill>
                <a:srgbClr val="D8D8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5781CB0-D5B0-229C-E1EF-CAB3F0F9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76" y="9804319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061751">
            <a:off x="5364107" y="-3936538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7047732">
            <a:off x="9324965" y="-3945912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7047732">
            <a:off x="-574452" y="5118119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810875" y="548984"/>
            <a:ext cx="8092150" cy="139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4"/>
              </a:lnSpc>
            </a:pPr>
            <a:r>
              <a:rPr lang="en-US" sz="8684" spc="-347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Model Evaluation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2992288"/>
          <a:ext cx="3921340" cy="889827"/>
        </p:xfrm>
        <a:graphic>
          <a:graphicData uri="http://schemas.openxmlformats.org/drawingml/2006/table">
            <a:tbl>
              <a:tblPr/>
              <a:tblGrid>
                <a:gridCol w="392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982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Model</a:t>
                      </a:r>
                      <a:endParaRPr lang="en-US" sz="1100"/>
                    </a:p>
                  </a:txBody>
                  <a:tcPr marL="164606" marR="164606" marT="164606" marB="164606" anchor="ctr">
                    <a:lnL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28700" y="4198457"/>
          <a:ext cx="3921340" cy="927338"/>
        </p:xfrm>
        <a:graphic>
          <a:graphicData uri="http://schemas.openxmlformats.org/drawingml/2006/table">
            <a:tbl>
              <a:tblPr/>
              <a:tblGrid>
                <a:gridCol w="392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LightGBM</a:t>
                      </a:r>
                      <a:endParaRPr lang="en-US" sz="110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1431"/>
              </p:ext>
            </p:extLst>
          </p:nvPr>
        </p:nvGraphicFramePr>
        <p:xfrm>
          <a:off x="5173494" y="4198457"/>
          <a:ext cx="1750993" cy="927338"/>
        </p:xfrm>
        <a:graphic>
          <a:graphicData uri="http://schemas.openxmlformats.org/drawingml/2006/table">
            <a:tbl>
              <a:tblPr/>
              <a:tblGrid>
                <a:gridCol w="175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14250.25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28700" y="5419725"/>
          <a:ext cx="3921340" cy="927338"/>
        </p:xfrm>
        <a:graphic>
          <a:graphicData uri="http://schemas.openxmlformats.org/drawingml/2006/table">
            <a:tbl>
              <a:tblPr/>
              <a:tblGrid>
                <a:gridCol w="392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XGBoost</a:t>
                      </a:r>
                      <a:endParaRPr lang="en-US" sz="110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83938"/>
              </p:ext>
            </p:extLst>
          </p:nvPr>
        </p:nvGraphicFramePr>
        <p:xfrm>
          <a:off x="5173494" y="5419725"/>
          <a:ext cx="1736430" cy="927338"/>
        </p:xfrm>
        <a:graphic>
          <a:graphicData uri="http://schemas.openxmlformats.org/drawingml/2006/table">
            <a:tbl>
              <a:tblPr/>
              <a:tblGrid>
                <a:gridCol w="173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14322.65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28700" y="6640993"/>
          <a:ext cx="3921340" cy="927338"/>
        </p:xfrm>
        <a:graphic>
          <a:graphicData uri="http://schemas.openxmlformats.org/drawingml/2006/table">
            <a:tbl>
              <a:tblPr/>
              <a:tblGrid>
                <a:gridCol w="392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Decision Tree</a:t>
                      </a:r>
                      <a:endParaRPr lang="en-US" sz="110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569395"/>
              </p:ext>
            </p:extLst>
          </p:nvPr>
        </p:nvGraphicFramePr>
        <p:xfrm>
          <a:off x="5173494" y="6608949"/>
          <a:ext cx="1736430" cy="927338"/>
        </p:xfrm>
        <a:graphic>
          <a:graphicData uri="http://schemas.openxmlformats.org/drawingml/2006/table">
            <a:tbl>
              <a:tblPr/>
              <a:tblGrid>
                <a:gridCol w="173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14442.26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028700" y="8105644"/>
          <a:ext cx="3921340" cy="927338"/>
        </p:xfrm>
        <a:graphic>
          <a:graphicData uri="http://schemas.openxmlformats.org/drawingml/2006/table">
            <a:tbl>
              <a:tblPr/>
              <a:tblGrid>
                <a:gridCol w="392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Linear Regression</a:t>
                      </a:r>
                      <a:endParaRPr lang="en-US" sz="110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08125"/>
              </p:ext>
            </p:extLst>
          </p:nvPr>
        </p:nvGraphicFramePr>
        <p:xfrm>
          <a:off x="5147239" y="8105644"/>
          <a:ext cx="1762685" cy="927338"/>
        </p:xfrm>
        <a:graphic>
          <a:graphicData uri="http://schemas.openxmlformats.org/drawingml/2006/table">
            <a:tbl>
              <a:tblPr/>
              <a:tblGrid>
                <a:gridCol w="1762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14507.59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346104"/>
              </p:ext>
            </p:extLst>
          </p:nvPr>
        </p:nvGraphicFramePr>
        <p:xfrm>
          <a:off x="5173494" y="2992288"/>
          <a:ext cx="1740809" cy="889827"/>
        </p:xfrm>
        <a:graphic>
          <a:graphicData uri="http://schemas.openxmlformats.org/drawingml/2006/table">
            <a:tbl>
              <a:tblPr/>
              <a:tblGrid>
                <a:gridCol w="174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982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FFFFFF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MAE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351392"/>
              </p:ext>
            </p:extLst>
          </p:nvPr>
        </p:nvGraphicFramePr>
        <p:xfrm>
          <a:off x="7361978" y="2992288"/>
          <a:ext cx="1693362" cy="889827"/>
        </p:xfrm>
        <a:graphic>
          <a:graphicData uri="http://schemas.openxmlformats.org/drawingml/2006/table">
            <a:tbl>
              <a:tblPr/>
              <a:tblGrid>
                <a:gridCol w="169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982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FFFFFF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RMSE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28090"/>
              </p:ext>
            </p:extLst>
          </p:nvPr>
        </p:nvGraphicFramePr>
        <p:xfrm>
          <a:off x="7361978" y="4198457"/>
          <a:ext cx="1693362" cy="927338"/>
        </p:xfrm>
        <a:graphic>
          <a:graphicData uri="http://schemas.openxmlformats.org/drawingml/2006/table">
            <a:tbl>
              <a:tblPr/>
              <a:tblGrid>
                <a:gridCol w="169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21694.54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433515"/>
              </p:ext>
            </p:extLst>
          </p:nvPr>
        </p:nvGraphicFramePr>
        <p:xfrm>
          <a:off x="7361978" y="5419725"/>
          <a:ext cx="1697741" cy="927338"/>
        </p:xfrm>
        <a:graphic>
          <a:graphicData uri="http://schemas.openxmlformats.org/drawingml/2006/table">
            <a:tbl>
              <a:tblPr/>
              <a:tblGrid>
                <a:gridCol w="169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21801.52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01907"/>
              </p:ext>
            </p:extLst>
          </p:nvPr>
        </p:nvGraphicFramePr>
        <p:xfrm>
          <a:off x="7357599" y="6608949"/>
          <a:ext cx="1697741" cy="927338"/>
        </p:xfrm>
        <a:graphic>
          <a:graphicData uri="http://schemas.openxmlformats.org/drawingml/2006/table">
            <a:tbl>
              <a:tblPr/>
              <a:tblGrid>
                <a:gridCol w="169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21960.78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11775"/>
              </p:ext>
            </p:extLst>
          </p:nvPr>
        </p:nvGraphicFramePr>
        <p:xfrm>
          <a:off x="7357599" y="8105644"/>
          <a:ext cx="1697741" cy="927338"/>
        </p:xfrm>
        <a:graphic>
          <a:graphicData uri="http://schemas.openxmlformats.org/drawingml/2006/table">
            <a:tbl>
              <a:tblPr/>
              <a:tblGrid>
                <a:gridCol w="169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73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334782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22089.64</a:t>
                      </a:r>
                      <a:endParaRPr lang="en-US" sz="1100" dirty="0"/>
                    </a:p>
                  </a:txBody>
                  <a:tcPr marL="164606" marR="164606" marT="164606" marB="164606" anchor="ctr">
                    <a:lnL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461" cap="flat" cmpd="sng" algn="ctr">
                      <a:solidFill>
                        <a:srgbClr val="F8F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Freeform 21"/>
          <p:cNvSpPr/>
          <p:nvPr/>
        </p:nvSpPr>
        <p:spPr>
          <a:xfrm>
            <a:off x="4720184" y="3854598"/>
            <a:ext cx="4891165" cy="1431777"/>
          </a:xfrm>
          <a:custGeom>
            <a:avLst/>
            <a:gdLst/>
            <a:ahLst/>
            <a:cxnLst/>
            <a:rect l="l" t="t" r="r" b="b"/>
            <a:pathLst>
              <a:path w="4891165" h="1431777">
                <a:moveTo>
                  <a:pt x="0" y="0"/>
                </a:moveTo>
                <a:lnTo>
                  <a:pt x="4891165" y="0"/>
                </a:lnTo>
                <a:lnTo>
                  <a:pt x="4891165" y="1431777"/>
                </a:lnTo>
                <a:lnTo>
                  <a:pt x="0" y="1431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773120" y="4292647"/>
            <a:ext cx="2498246" cy="731305"/>
          </a:xfrm>
          <a:custGeom>
            <a:avLst/>
            <a:gdLst/>
            <a:ahLst/>
            <a:cxnLst/>
            <a:rect l="l" t="t" r="r" b="b"/>
            <a:pathLst>
              <a:path w="2498246" h="731305">
                <a:moveTo>
                  <a:pt x="0" y="0"/>
                </a:moveTo>
                <a:lnTo>
                  <a:pt x="2498246" y="0"/>
                </a:lnTo>
                <a:lnTo>
                  <a:pt x="2498246" y="731305"/>
                </a:lnTo>
                <a:lnTo>
                  <a:pt x="0" y="73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1849930" y="-119548"/>
            <a:ext cx="6435334" cy="10287000"/>
            <a:chOff x="0" y="0"/>
            <a:chExt cx="1694903" cy="27093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94903" cy="2709333"/>
            </a:xfrm>
            <a:custGeom>
              <a:avLst/>
              <a:gdLst/>
              <a:ahLst/>
              <a:cxnLst/>
              <a:rect l="l" t="t" r="r" b="b"/>
              <a:pathLst>
                <a:path w="1694903" h="2709333">
                  <a:moveTo>
                    <a:pt x="0" y="0"/>
                  </a:moveTo>
                  <a:lnTo>
                    <a:pt x="1694903" y="0"/>
                  </a:lnTo>
                  <a:lnTo>
                    <a:pt x="16949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76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38100"/>
              <a:ext cx="1694903" cy="2671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5391130">
            <a:off x="13007870" y="209262"/>
            <a:ext cx="1942924" cy="2882242"/>
          </a:xfrm>
          <a:custGeom>
            <a:avLst/>
            <a:gdLst/>
            <a:ahLst/>
            <a:cxnLst/>
            <a:rect l="l" t="t" r="r" b="b"/>
            <a:pathLst>
              <a:path w="1942924" h="2882242">
                <a:moveTo>
                  <a:pt x="0" y="0"/>
                </a:moveTo>
                <a:lnTo>
                  <a:pt x="1942924" y="0"/>
                </a:lnTo>
                <a:lnTo>
                  <a:pt x="1942924" y="2882242"/>
                </a:lnTo>
                <a:lnTo>
                  <a:pt x="0" y="2882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067597" y="6818023"/>
            <a:ext cx="2531888" cy="2575243"/>
          </a:xfrm>
          <a:custGeom>
            <a:avLst/>
            <a:gdLst/>
            <a:ahLst/>
            <a:cxnLst/>
            <a:rect l="l" t="t" r="r" b="b"/>
            <a:pathLst>
              <a:path w="2531888" h="2575243">
                <a:moveTo>
                  <a:pt x="0" y="0"/>
                </a:moveTo>
                <a:lnTo>
                  <a:pt x="2531888" y="0"/>
                </a:lnTo>
                <a:lnTo>
                  <a:pt x="2531888" y="2575243"/>
                </a:lnTo>
                <a:lnTo>
                  <a:pt x="0" y="2575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2607435" y="3455155"/>
            <a:ext cx="5430585" cy="2224239"/>
            <a:chOff x="0" y="0"/>
            <a:chExt cx="2102750" cy="8612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02762" cy="861237"/>
            </a:xfrm>
            <a:custGeom>
              <a:avLst/>
              <a:gdLst/>
              <a:ahLst/>
              <a:cxnLst/>
              <a:rect l="l" t="t" r="r" b="b"/>
              <a:pathLst>
                <a:path w="2102762" h="861237">
                  <a:moveTo>
                    <a:pt x="1798346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357554"/>
                  </a:cubicBezTo>
                  <a:cubicBezTo>
                    <a:pt x="0" y="536206"/>
                    <a:pt x="66279" y="631347"/>
                    <a:pt x="162037" y="675488"/>
                  </a:cubicBezTo>
                  <a:lnTo>
                    <a:pt x="162037" y="861237"/>
                  </a:lnTo>
                  <a:lnTo>
                    <a:pt x="353844" y="701770"/>
                  </a:lnTo>
                  <a:lnTo>
                    <a:pt x="1798346" y="701770"/>
                  </a:lnTo>
                  <a:cubicBezTo>
                    <a:pt x="1976313" y="701770"/>
                    <a:pt x="2102751" y="578257"/>
                    <a:pt x="2102751" y="357520"/>
                  </a:cubicBezTo>
                  <a:cubicBezTo>
                    <a:pt x="2102762" y="123512"/>
                    <a:pt x="1976313" y="0"/>
                    <a:pt x="1798346" y="0"/>
                  </a:cubicBezTo>
                  <a:close/>
                </a:path>
              </a:pathLst>
            </a:custGeom>
            <a:solidFill>
              <a:srgbClr val="86C2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57150"/>
              <a:ext cx="2102750" cy="613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r>
                <a:rPr lang="en-US" sz="2499" b="1">
                  <a:solidFill>
                    <a:srgbClr val="33478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MAE and RMSE are used over accuracy-based metrics as they better evaluate prediction errors in sales forecasting</a:t>
              </a: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79C169C-A0B2-AF90-9FC3-D46C0C0F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22" y="9809915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42650">
            <a:off x="98827" y="3462888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830136">
            <a:off x="9279723" y="3108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52600" y="296148"/>
            <a:ext cx="13945336" cy="175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 spc="-243" dirty="0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How Walmart Can Leverage Our Analysis to Optimize Promotional Strategies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814869" y="2051288"/>
            <a:ext cx="6658261" cy="568199"/>
            <a:chOff x="0" y="0"/>
            <a:chExt cx="1753616" cy="149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3616" cy="149649"/>
            </a:xfrm>
            <a:custGeom>
              <a:avLst/>
              <a:gdLst/>
              <a:ahLst/>
              <a:cxnLst/>
              <a:rect l="l" t="t" r="r" b="b"/>
              <a:pathLst>
                <a:path w="1753616" h="149649">
                  <a:moveTo>
                    <a:pt x="59300" y="0"/>
                  </a:moveTo>
                  <a:lnTo>
                    <a:pt x="1694316" y="0"/>
                  </a:lnTo>
                  <a:cubicBezTo>
                    <a:pt x="1727066" y="0"/>
                    <a:pt x="1753616" y="26550"/>
                    <a:pt x="1753616" y="59300"/>
                  </a:cubicBezTo>
                  <a:lnTo>
                    <a:pt x="1753616" y="90349"/>
                  </a:lnTo>
                  <a:cubicBezTo>
                    <a:pt x="1753616" y="123099"/>
                    <a:pt x="1727066" y="149649"/>
                    <a:pt x="1694316" y="149649"/>
                  </a:cubicBezTo>
                  <a:lnTo>
                    <a:pt x="59300" y="149649"/>
                  </a:lnTo>
                  <a:cubicBezTo>
                    <a:pt x="26550" y="149649"/>
                    <a:pt x="0" y="123099"/>
                    <a:pt x="0" y="90349"/>
                  </a:cubicBezTo>
                  <a:lnTo>
                    <a:pt x="0" y="59300"/>
                  </a:lnTo>
                  <a:cubicBezTo>
                    <a:pt x="0" y="26550"/>
                    <a:pt x="26550" y="0"/>
                    <a:pt x="59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53616" cy="187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34833" y="2158988"/>
            <a:ext cx="6218333" cy="37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 spc="273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TEMPERATURE-RELATED SCENARIOS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4153" y="2901321"/>
          <a:ext cx="8309846" cy="6870571"/>
        </p:xfrm>
        <a:graphic>
          <a:graphicData uri="http://schemas.openxmlformats.org/drawingml/2006/table">
            <a:tbl>
              <a:tblPr/>
              <a:tblGrid>
                <a:gridCol w="224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488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SCENARIO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TEMPERATURE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HOLIDAY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CHANGE IN TOTAL SALES (%)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97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u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-4.01%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49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-2.14%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2308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-4.64%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990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96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 dirty="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-2.64%</a:t>
                      </a:r>
                      <a:endParaRPr lang="en-US" sz="1100" dirty="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755012" y="2901321"/>
          <a:ext cx="8309846" cy="6870571"/>
        </p:xfrm>
        <a:graphic>
          <a:graphicData uri="http://schemas.openxmlformats.org/drawingml/2006/table">
            <a:tbl>
              <a:tblPr/>
              <a:tblGrid>
                <a:gridCol w="224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488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SCENARIO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TEMPERATURE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HOLIDAY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CHANGE IN TOTAL SALES (%)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97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u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-2.54%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49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-0.82%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2308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-2.81%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990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-0.85%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E009B84-1C35-2805-6018-999BA0AC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" y="9832370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42650">
            <a:off x="-256356" y="-4925368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830136">
            <a:off x="9279723" y="3108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82843" y="94267"/>
            <a:ext cx="13945336" cy="175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 spc="-243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How Walmart Can Leverage Our Analysis to Optimize Promotional Strategies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772479" y="2901321"/>
          <a:ext cx="8309846" cy="6870571"/>
        </p:xfrm>
        <a:graphic>
          <a:graphicData uri="http://schemas.openxmlformats.org/drawingml/2006/table">
            <a:tbl>
              <a:tblPr/>
              <a:tblGrid>
                <a:gridCol w="224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488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SCENARIO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FUEL PRICE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HOLIDAY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CHANGE IN TOTAL SALES (%)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97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2.66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0.12%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49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2.66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0.91%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2308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2.66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-0.04%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990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2.66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1.35%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4840495" y="2051288"/>
            <a:ext cx="7230032" cy="568199"/>
            <a:chOff x="0" y="0"/>
            <a:chExt cx="1904206" cy="1496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4206" cy="149649"/>
            </a:xfrm>
            <a:custGeom>
              <a:avLst/>
              <a:gdLst/>
              <a:ahLst/>
              <a:cxnLst/>
              <a:rect l="l" t="t" r="r" b="b"/>
              <a:pathLst>
                <a:path w="1904206" h="149649">
                  <a:moveTo>
                    <a:pt x="54611" y="0"/>
                  </a:moveTo>
                  <a:lnTo>
                    <a:pt x="1849595" y="0"/>
                  </a:lnTo>
                  <a:cubicBezTo>
                    <a:pt x="1879756" y="0"/>
                    <a:pt x="1904206" y="24450"/>
                    <a:pt x="1904206" y="54611"/>
                  </a:cubicBezTo>
                  <a:lnTo>
                    <a:pt x="1904206" y="95038"/>
                  </a:lnTo>
                  <a:cubicBezTo>
                    <a:pt x="1904206" y="109522"/>
                    <a:pt x="1898452" y="123412"/>
                    <a:pt x="1888211" y="133654"/>
                  </a:cubicBezTo>
                  <a:cubicBezTo>
                    <a:pt x="1877969" y="143895"/>
                    <a:pt x="1864079" y="149649"/>
                    <a:pt x="1849595" y="149649"/>
                  </a:cubicBezTo>
                  <a:lnTo>
                    <a:pt x="54611" y="149649"/>
                  </a:lnTo>
                  <a:cubicBezTo>
                    <a:pt x="24450" y="149649"/>
                    <a:pt x="0" y="125199"/>
                    <a:pt x="0" y="95038"/>
                  </a:cubicBezTo>
                  <a:lnTo>
                    <a:pt x="0" y="54611"/>
                  </a:lnTo>
                  <a:cubicBezTo>
                    <a:pt x="0" y="24450"/>
                    <a:pt x="24450" y="0"/>
                    <a:pt x="5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04206" cy="187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206608" y="2119011"/>
            <a:ext cx="6497806" cy="37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 spc="273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FUEL PRICE-RELATED SCENARIOS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51685" y="2943336"/>
          <a:ext cx="8309846" cy="6870571"/>
        </p:xfrm>
        <a:graphic>
          <a:graphicData uri="http://schemas.openxmlformats.org/drawingml/2006/table">
            <a:tbl>
              <a:tblPr/>
              <a:tblGrid>
                <a:gridCol w="224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488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SCENARIO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FUEL PRICE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HOLIDAY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CHANGE IN TOTAL SALES (%)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97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3.91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-0.68%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49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3.91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1.92%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2308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3.91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-0.90%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990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3.91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2.26%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0E94C3-07E8-DF7F-8232-7BCD03BE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" y="9772631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42650">
            <a:off x="-256356" y="-4925368"/>
            <a:ext cx="14220834" cy="14203058"/>
          </a:xfrm>
          <a:custGeom>
            <a:avLst/>
            <a:gdLst/>
            <a:ahLst/>
            <a:cxnLst/>
            <a:rect l="l" t="t" r="r" b="b"/>
            <a:pathLst>
              <a:path w="14220834" h="14203058">
                <a:moveTo>
                  <a:pt x="0" y="0"/>
                </a:moveTo>
                <a:lnTo>
                  <a:pt x="14220834" y="0"/>
                </a:lnTo>
                <a:lnTo>
                  <a:pt x="14220834" y="14203058"/>
                </a:lnTo>
                <a:lnTo>
                  <a:pt x="0" y="1420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830136">
            <a:off x="9279723" y="3108245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2" y="0"/>
                </a:lnTo>
                <a:lnTo>
                  <a:pt x="10589272" y="11265183"/>
                </a:lnTo>
                <a:lnTo>
                  <a:pt x="0" y="112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82843" y="94267"/>
            <a:ext cx="13945336" cy="175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 spc="-243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How Walmart Can Leverage Our Analysis to Optimize Promotional Strategies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97250" y="2051288"/>
            <a:ext cx="6658261" cy="568199"/>
            <a:chOff x="0" y="0"/>
            <a:chExt cx="1753616" cy="149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3616" cy="149649"/>
            </a:xfrm>
            <a:custGeom>
              <a:avLst/>
              <a:gdLst/>
              <a:ahLst/>
              <a:cxnLst/>
              <a:rect l="l" t="t" r="r" b="b"/>
              <a:pathLst>
                <a:path w="1753616" h="149649">
                  <a:moveTo>
                    <a:pt x="59300" y="0"/>
                  </a:moveTo>
                  <a:lnTo>
                    <a:pt x="1694316" y="0"/>
                  </a:lnTo>
                  <a:cubicBezTo>
                    <a:pt x="1727066" y="0"/>
                    <a:pt x="1753616" y="26550"/>
                    <a:pt x="1753616" y="59300"/>
                  </a:cubicBezTo>
                  <a:lnTo>
                    <a:pt x="1753616" y="90349"/>
                  </a:lnTo>
                  <a:cubicBezTo>
                    <a:pt x="1753616" y="123099"/>
                    <a:pt x="1727066" y="149649"/>
                    <a:pt x="1694316" y="149649"/>
                  </a:cubicBezTo>
                  <a:lnTo>
                    <a:pt x="59300" y="149649"/>
                  </a:lnTo>
                  <a:cubicBezTo>
                    <a:pt x="26550" y="149649"/>
                    <a:pt x="0" y="123099"/>
                    <a:pt x="0" y="90349"/>
                  </a:cubicBezTo>
                  <a:lnTo>
                    <a:pt x="0" y="59300"/>
                  </a:lnTo>
                  <a:cubicBezTo>
                    <a:pt x="0" y="26550"/>
                    <a:pt x="26550" y="0"/>
                    <a:pt x="59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53616" cy="187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17214" y="2119011"/>
            <a:ext cx="6218333" cy="37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 spc="273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UNEMPLOYMENT-RELATED SCENARIOS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4153" y="2901321"/>
          <a:ext cx="8100242" cy="6935106"/>
        </p:xfrm>
        <a:graphic>
          <a:graphicData uri="http://schemas.openxmlformats.org/drawingml/2006/table">
            <a:tbl>
              <a:tblPr/>
              <a:tblGrid>
                <a:gridCol w="212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6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5850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SCENARIO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UNEMPLOYMENT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HOLIDAY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CHANGE IN TOTAL SALES (%)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201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15.69%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050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INCREASE)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17.85%</a:t>
                      </a:r>
                      <a:endParaRPr lang="en-US" sz="1100" dirty="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227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None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13.84%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864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MARKDOWN IMPACT (50% DECREASE)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3.1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True</a:t>
                      </a:r>
                      <a:endParaRPr lang="en-US" sz="110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16.62%</a:t>
                      </a:r>
                      <a:endParaRPr lang="en-US" sz="1100" dirty="0"/>
                    </a:p>
                  </a:txBody>
                  <a:tcPr marL="66675" marR="66675" marT="66675" marB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A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2110766" y="2051288"/>
            <a:ext cx="4155831" cy="720832"/>
            <a:chOff x="0" y="0"/>
            <a:chExt cx="1094540" cy="189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4540" cy="189849"/>
            </a:xfrm>
            <a:custGeom>
              <a:avLst/>
              <a:gdLst/>
              <a:ahLst/>
              <a:cxnLst/>
              <a:rect l="l" t="t" r="r" b="b"/>
              <a:pathLst>
                <a:path w="1094540" h="189849">
                  <a:moveTo>
                    <a:pt x="94924" y="0"/>
                  </a:moveTo>
                  <a:lnTo>
                    <a:pt x="999615" y="0"/>
                  </a:lnTo>
                  <a:cubicBezTo>
                    <a:pt x="1024791" y="0"/>
                    <a:pt x="1048935" y="10001"/>
                    <a:pt x="1066737" y="27803"/>
                  </a:cubicBezTo>
                  <a:cubicBezTo>
                    <a:pt x="1084539" y="45605"/>
                    <a:pt x="1094540" y="69749"/>
                    <a:pt x="1094540" y="94924"/>
                  </a:cubicBezTo>
                  <a:lnTo>
                    <a:pt x="1094540" y="94924"/>
                  </a:lnTo>
                  <a:cubicBezTo>
                    <a:pt x="1094540" y="120100"/>
                    <a:pt x="1084539" y="144244"/>
                    <a:pt x="1066737" y="162046"/>
                  </a:cubicBezTo>
                  <a:cubicBezTo>
                    <a:pt x="1048935" y="179848"/>
                    <a:pt x="1024791" y="189849"/>
                    <a:pt x="999615" y="189849"/>
                  </a:cubicBezTo>
                  <a:lnTo>
                    <a:pt x="94924" y="189849"/>
                  </a:lnTo>
                  <a:cubicBezTo>
                    <a:pt x="69749" y="189849"/>
                    <a:pt x="45605" y="179848"/>
                    <a:pt x="27803" y="162046"/>
                  </a:cubicBezTo>
                  <a:cubicBezTo>
                    <a:pt x="10001" y="144244"/>
                    <a:pt x="0" y="120100"/>
                    <a:pt x="0" y="94924"/>
                  </a:cubicBezTo>
                  <a:lnTo>
                    <a:pt x="0" y="94924"/>
                  </a:lnTo>
                  <a:cubicBezTo>
                    <a:pt x="0" y="69749"/>
                    <a:pt x="10001" y="45605"/>
                    <a:pt x="27803" y="27803"/>
                  </a:cubicBezTo>
                  <a:cubicBezTo>
                    <a:pt x="45605" y="10001"/>
                    <a:pt x="69749" y="0"/>
                    <a:pt x="949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3DD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4540" cy="227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677245" y="2119011"/>
            <a:ext cx="3022875" cy="37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122" b="1" spc="273">
                <a:solidFill>
                  <a:srgbClr val="F3DD52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0417" y="3232149"/>
            <a:ext cx="6327885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-103">
                <a:solidFill>
                  <a:srgbClr val="D8D8D8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Optimized Inventory Alignment with Demand Forecasts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10417" y="4604384"/>
            <a:ext cx="6821040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-103">
                <a:solidFill>
                  <a:srgbClr val="D8D8D8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Feedback Loop for Promotional Refinement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10417" y="5878019"/>
            <a:ext cx="6755532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-103">
                <a:solidFill>
                  <a:srgbClr val="D8D8D8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Personalize Regional Promotional </a:t>
            </a:r>
          </a:p>
          <a:p>
            <a:pPr algn="l">
              <a:lnSpc>
                <a:spcPts val="3639"/>
              </a:lnSpc>
            </a:pPr>
            <a:r>
              <a:rPr lang="en-US" sz="2599" b="1" spc="-103">
                <a:solidFill>
                  <a:srgbClr val="D8D8D8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547320" y="3572192"/>
            <a:ext cx="319621" cy="301625"/>
            <a:chOff x="0" y="0"/>
            <a:chExt cx="84180" cy="79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180" cy="79440"/>
            </a:xfrm>
            <a:custGeom>
              <a:avLst/>
              <a:gdLst/>
              <a:ahLst/>
              <a:cxnLst/>
              <a:rect l="l" t="t" r="r" b="b"/>
              <a:pathLst>
                <a:path w="84180" h="79440">
                  <a:moveTo>
                    <a:pt x="39720" y="0"/>
                  </a:moveTo>
                  <a:lnTo>
                    <a:pt x="44460" y="0"/>
                  </a:lnTo>
                  <a:cubicBezTo>
                    <a:pt x="66397" y="0"/>
                    <a:pt x="84180" y="17783"/>
                    <a:pt x="84180" y="39720"/>
                  </a:cubicBezTo>
                  <a:lnTo>
                    <a:pt x="84180" y="39720"/>
                  </a:lnTo>
                  <a:cubicBezTo>
                    <a:pt x="84180" y="50255"/>
                    <a:pt x="79995" y="60358"/>
                    <a:pt x="72546" y="67807"/>
                  </a:cubicBezTo>
                  <a:cubicBezTo>
                    <a:pt x="65097" y="75256"/>
                    <a:pt x="54994" y="79440"/>
                    <a:pt x="44460" y="79440"/>
                  </a:cubicBezTo>
                  <a:lnTo>
                    <a:pt x="39720" y="79440"/>
                  </a:lnTo>
                  <a:cubicBezTo>
                    <a:pt x="29186" y="79440"/>
                    <a:pt x="19083" y="75256"/>
                    <a:pt x="11634" y="67807"/>
                  </a:cubicBezTo>
                  <a:cubicBezTo>
                    <a:pt x="4185" y="60358"/>
                    <a:pt x="0" y="50255"/>
                    <a:pt x="0" y="39720"/>
                  </a:cubicBezTo>
                  <a:lnTo>
                    <a:pt x="0" y="39720"/>
                  </a:lnTo>
                  <a:cubicBezTo>
                    <a:pt x="0" y="29186"/>
                    <a:pt x="4185" y="19083"/>
                    <a:pt x="11634" y="11634"/>
                  </a:cubicBezTo>
                  <a:cubicBezTo>
                    <a:pt x="19083" y="4185"/>
                    <a:pt x="29186" y="0"/>
                    <a:pt x="39720" y="0"/>
                  </a:cubicBezTo>
                  <a:close/>
                </a:path>
              </a:pathLst>
            </a:custGeom>
            <a:solidFill>
              <a:srgbClr val="37B5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4180" cy="136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7320" y="4841875"/>
            <a:ext cx="319621" cy="301625"/>
            <a:chOff x="0" y="0"/>
            <a:chExt cx="84180" cy="79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180" cy="79440"/>
            </a:xfrm>
            <a:custGeom>
              <a:avLst/>
              <a:gdLst/>
              <a:ahLst/>
              <a:cxnLst/>
              <a:rect l="l" t="t" r="r" b="b"/>
              <a:pathLst>
                <a:path w="84180" h="79440">
                  <a:moveTo>
                    <a:pt x="39720" y="0"/>
                  </a:moveTo>
                  <a:lnTo>
                    <a:pt x="44460" y="0"/>
                  </a:lnTo>
                  <a:cubicBezTo>
                    <a:pt x="66397" y="0"/>
                    <a:pt x="84180" y="17783"/>
                    <a:pt x="84180" y="39720"/>
                  </a:cubicBezTo>
                  <a:lnTo>
                    <a:pt x="84180" y="39720"/>
                  </a:lnTo>
                  <a:cubicBezTo>
                    <a:pt x="84180" y="50255"/>
                    <a:pt x="79995" y="60358"/>
                    <a:pt x="72546" y="67807"/>
                  </a:cubicBezTo>
                  <a:cubicBezTo>
                    <a:pt x="65097" y="75256"/>
                    <a:pt x="54994" y="79440"/>
                    <a:pt x="44460" y="79440"/>
                  </a:cubicBezTo>
                  <a:lnTo>
                    <a:pt x="39720" y="79440"/>
                  </a:lnTo>
                  <a:cubicBezTo>
                    <a:pt x="29186" y="79440"/>
                    <a:pt x="19083" y="75256"/>
                    <a:pt x="11634" y="67807"/>
                  </a:cubicBezTo>
                  <a:cubicBezTo>
                    <a:pt x="4185" y="60358"/>
                    <a:pt x="0" y="50255"/>
                    <a:pt x="0" y="39720"/>
                  </a:cubicBezTo>
                  <a:lnTo>
                    <a:pt x="0" y="39720"/>
                  </a:lnTo>
                  <a:cubicBezTo>
                    <a:pt x="0" y="29186"/>
                    <a:pt x="4185" y="19083"/>
                    <a:pt x="11634" y="11634"/>
                  </a:cubicBezTo>
                  <a:cubicBezTo>
                    <a:pt x="19083" y="4185"/>
                    <a:pt x="29186" y="0"/>
                    <a:pt x="39720" y="0"/>
                  </a:cubicBezTo>
                  <a:close/>
                </a:path>
              </a:pathLst>
            </a:custGeom>
            <a:solidFill>
              <a:srgbClr val="37B5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4180" cy="136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47320" y="6067249"/>
            <a:ext cx="319621" cy="301625"/>
            <a:chOff x="0" y="0"/>
            <a:chExt cx="84180" cy="79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4180" cy="79440"/>
            </a:xfrm>
            <a:custGeom>
              <a:avLst/>
              <a:gdLst/>
              <a:ahLst/>
              <a:cxnLst/>
              <a:rect l="l" t="t" r="r" b="b"/>
              <a:pathLst>
                <a:path w="84180" h="79440">
                  <a:moveTo>
                    <a:pt x="39720" y="0"/>
                  </a:moveTo>
                  <a:lnTo>
                    <a:pt x="44460" y="0"/>
                  </a:lnTo>
                  <a:cubicBezTo>
                    <a:pt x="66397" y="0"/>
                    <a:pt x="84180" y="17783"/>
                    <a:pt x="84180" y="39720"/>
                  </a:cubicBezTo>
                  <a:lnTo>
                    <a:pt x="84180" y="39720"/>
                  </a:lnTo>
                  <a:cubicBezTo>
                    <a:pt x="84180" y="50255"/>
                    <a:pt x="79995" y="60358"/>
                    <a:pt x="72546" y="67807"/>
                  </a:cubicBezTo>
                  <a:cubicBezTo>
                    <a:pt x="65097" y="75256"/>
                    <a:pt x="54994" y="79440"/>
                    <a:pt x="44460" y="79440"/>
                  </a:cubicBezTo>
                  <a:lnTo>
                    <a:pt x="39720" y="79440"/>
                  </a:lnTo>
                  <a:cubicBezTo>
                    <a:pt x="29186" y="79440"/>
                    <a:pt x="19083" y="75256"/>
                    <a:pt x="11634" y="67807"/>
                  </a:cubicBezTo>
                  <a:cubicBezTo>
                    <a:pt x="4185" y="60358"/>
                    <a:pt x="0" y="50255"/>
                    <a:pt x="0" y="39720"/>
                  </a:cubicBezTo>
                  <a:lnTo>
                    <a:pt x="0" y="39720"/>
                  </a:lnTo>
                  <a:cubicBezTo>
                    <a:pt x="0" y="29186"/>
                    <a:pt x="4185" y="19083"/>
                    <a:pt x="11634" y="11634"/>
                  </a:cubicBezTo>
                  <a:cubicBezTo>
                    <a:pt x="19083" y="4185"/>
                    <a:pt x="29186" y="0"/>
                    <a:pt x="39720" y="0"/>
                  </a:cubicBezTo>
                  <a:close/>
                </a:path>
              </a:pathLst>
            </a:custGeom>
            <a:solidFill>
              <a:srgbClr val="37B5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4180" cy="136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576F566-D30B-FF08-6171-FDACAC5E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5" y="9867119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24422">
            <a:off x="4440726" y="-5286740"/>
            <a:ext cx="15504871" cy="15485490"/>
          </a:xfrm>
          <a:custGeom>
            <a:avLst/>
            <a:gdLst/>
            <a:ahLst/>
            <a:cxnLst/>
            <a:rect l="l" t="t" r="r" b="b"/>
            <a:pathLst>
              <a:path w="15504871" h="15485490">
                <a:moveTo>
                  <a:pt x="0" y="0"/>
                </a:moveTo>
                <a:lnTo>
                  <a:pt x="15504871" y="0"/>
                </a:lnTo>
                <a:lnTo>
                  <a:pt x="15504871" y="15485490"/>
                </a:lnTo>
                <a:lnTo>
                  <a:pt x="0" y="1548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9088373">
            <a:off x="9754750" y="1418968"/>
            <a:ext cx="13128058" cy="13966019"/>
          </a:xfrm>
          <a:custGeom>
            <a:avLst/>
            <a:gdLst/>
            <a:ahLst/>
            <a:cxnLst/>
            <a:rect l="l" t="t" r="r" b="b"/>
            <a:pathLst>
              <a:path w="13128058" h="13966019">
                <a:moveTo>
                  <a:pt x="0" y="0"/>
                </a:moveTo>
                <a:lnTo>
                  <a:pt x="13128058" y="0"/>
                </a:lnTo>
                <a:lnTo>
                  <a:pt x="13128058" y="13966019"/>
                </a:lnTo>
                <a:lnTo>
                  <a:pt x="0" y="139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794495">
            <a:off x="-2008323" y="-4836870"/>
            <a:ext cx="10589272" cy="11265182"/>
          </a:xfrm>
          <a:custGeom>
            <a:avLst/>
            <a:gdLst/>
            <a:ahLst/>
            <a:cxnLst/>
            <a:rect l="l" t="t" r="r" b="b"/>
            <a:pathLst>
              <a:path w="10589272" h="11265182">
                <a:moveTo>
                  <a:pt x="0" y="0"/>
                </a:moveTo>
                <a:lnTo>
                  <a:pt x="10589271" y="0"/>
                </a:lnTo>
                <a:lnTo>
                  <a:pt x="10589271" y="11265182"/>
                </a:lnTo>
                <a:lnTo>
                  <a:pt x="0" y="11265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93309" y="4013486"/>
            <a:ext cx="12066307" cy="2902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62"/>
              </a:lnSpc>
            </a:pPr>
            <a:r>
              <a:rPr lang="en-US" sz="17962" spc="-718">
                <a:solidFill>
                  <a:srgbClr val="F6F6F6"/>
                </a:solidFill>
                <a:latin typeface="Agrandir"/>
                <a:ea typeface="Agrandir"/>
                <a:cs typeface="Agrandir"/>
                <a:sym typeface="Agrandir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9A9D-835A-E824-A82A-4982C306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509" y="9855565"/>
            <a:ext cx="2133600" cy="365125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/>
                </a:solidFill>
              </a:rPr>
              <a:pPr algn="l"/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27652" y="1730912"/>
            <a:ext cx="6868293" cy="7720255"/>
          </a:xfrm>
          <a:custGeom>
            <a:avLst/>
            <a:gdLst/>
            <a:ahLst/>
            <a:cxnLst/>
            <a:rect l="l" t="t" r="r" b="b"/>
            <a:pathLst>
              <a:path w="6868293" h="7720255">
                <a:moveTo>
                  <a:pt x="0" y="0"/>
                </a:moveTo>
                <a:lnTo>
                  <a:pt x="6868292" y="0"/>
                </a:lnTo>
                <a:lnTo>
                  <a:pt x="6868292" y="7720255"/>
                </a:lnTo>
                <a:lnTo>
                  <a:pt x="0" y="7720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70969" y="102384"/>
            <a:ext cx="4406603" cy="139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4"/>
              </a:lnSpc>
            </a:pPr>
            <a:r>
              <a:rPr lang="en-US" sz="8684" spc="-347">
                <a:solidFill>
                  <a:srgbClr val="040606"/>
                </a:solidFill>
                <a:latin typeface="Agrandir"/>
                <a:ea typeface="Agrandir"/>
                <a:cs typeface="Agrandir"/>
                <a:sym typeface="Agrandir"/>
              </a:rPr>
              <a:t>Appendix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DB289-9028-1BB6-59F7-D9C2FC57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337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007" y="1257410"/>
            <a:ext cx="7499803" cy="5746003"/>
          </a:xfrm>
          <a:custGeom>
            <a:avLst/>
            <a:gdLst/>
            <a:ahLst/>
            <a:cxnLst/>
            <a:rect l="l" t="t" r="r" b="b"/>
            <a:pathLst>
              <a:path w="7499803" h="5746003">
                <a:moveTo>
                  <a:pt x="0" y="0"/>
                </a:moveTo>
                <a:lnTo>
                  <a:pt x="7499803" y="0"/>
                </a:lnTo>
                <a:lnTo>
                  <a:pt x="7499803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706097" y="1207700"/>
            <a:ext cx="5155188" cy="5845422"/>
          </a:xfrm>
          <a:custGeom>
            <a:avLst/>
            <a:gdLst/>
            <a:ahLst/>
            <a:cxnLst/>
            <a:rect l="l" t="t" r="r" b="b"/>
            <a:pathLst>
              <a:path w="5155188" h="5845422">
                <a:moveTo>
                  <a:pt x="0" y="0"/>
                </a:moveTo>
                <a:lnTo>
                  <a:pt x="5155187" y="0"/>
                </a:lnTo>
                <a:lnTo>
                  <a:pt x="5155187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7580C-40DA-0FBD-6B8B-1BD07C68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207" y="97917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07952" y="1620410"/>
            <a:ext cx="9472095" cy="7046180"/>
          </a:xfrm>
          <a:custGeom>
            <a:avLst/>
            <a:gdLst/>
            <a:ahLst/>
            <a:cxnLst/>
            <a:rect l="l" t="t" r="r" b="b"/>
            <a:pathLst>
              <a:path w="9472095" h="7046180">
                <a:moveTo>
                  <a:pt x="0" y="0"/>
                </a:moveTo>
                <a:lnTo>
                  <a:pt x="9472096" y="0"/>
                </a:lnTo>
                <a:lnTo>
                  <a:pt x="9472096" y="7046180"/>
                </a:lnTo>
                <a:lnTo>
                  <a:pt x="0" y="704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3DE9D-5842-3363-6A04-72227BE2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97917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3633" y="2099969"/>
            <a:ext cx="13459859" cy="1190135"/>
          </a:xfrm>
          <a:custGeom>
            <a:avLst/>
            <a:gdLst/>
            <a:ahLst/>
            <a:cxnLst/>
            <a:rect l="l" t="t" r="r" b="b"/>
            <a:pathLst>
              <a:path w="13459859" h="1190135">
                <a:moveTo>
                  <a:pt x="0" y="0"/>
                </a:moveTo>
                <a:lnTo>
                  <a:pt x="13459859" y="0"/>
                </a:lnTo>
                <a:lnTo>
                  <a:pt x="13459859" y="1190136"/>
                </a:lnTo>
                <a:lnTo>
                  <a:pt x="0" y="119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62" b="-80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55215" y="4385534"/>
            <a:ext cx="11743456" cy="1211430"/>
          </a:xfrm>
          <a:custGeom>
            <a:avLst/>
            <a:gdLst/>
            <a:ahLst/>
            <a:cxnLst/>
            <a:rect l="l" t="t" r="r" b="b"/>
            <a:pathLst>
              <a:path w="11743456" h="1211430">
                <a:moveTo>
                  <a:pt x="0" y="0"/>
                </a:moveTo>
                <a:lnTo>
                  <a:pt x="11743456" y="0"/>
                </a:lnTo>
                <a:lnTo>
                  <a:pt x="11743456" y="1211430"/>
                </a:lnTo>
                <a:lnTo>
                  <a:pt x="0" y="121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55215" y="6238898"/>
            <a:ext cx="10945273" cy="980646"/>
          </a:xfrm>
          <a:custGeom>
            <a:avLst/>
            <a:gdLst/>
            <a:ahLst/>
            <a:cxnLst/>
            <a:rect l="l" t="t" r="r" b="b"/>
            <a:pathLst>
              <a:path w="10945273" h="980646">
                <a:moveTo>
                  <a:pt x="0" y="0"/>
                </a:moveTo>
                <a:lnTo>
                  <a:pt x="10945272" y="0"/>
                </a:lnTo>
                <a:lnTo>
                  <a:pt x="10945272" y="980645"/>
                </a:lnTo>
                <a:lnTo>
                  <a:pt x="0" y="980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423633" y="8104148"/>
            <a:ext cx="11100978" cy="541511"/>
          </a:xfrm>
          <a:custGeom>
            <a:avLst/>
            <a:gdLst/>
            <a:ahLst/>
            <a:cxnLst/>
            <a:rect l="l" t="t" r="r" b="b"/>
            <a:pathLst>
              <a:path w="11100978" h="541511">
                <a:moveTo>
                  <a:pt x="0" y="0"/>
                </a:moveTo>
                <a:lnTo>
                  <a:pt x="11100978" y="0"/>
                </a:lnTo>
                <a:lnTo>
                  <a:pt x="11100978" y="541512"/>
                </a:lnTo>
                <a:lnTo>
                  <a:pt x="0" y="54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3D36B-CAF9-2754-1129-24957B2A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50" y="97155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7927" y="1294711"/>
            <a:ext cx="8899887" cy="5170059"/>
          </a:xfrm>
          <a:custGeom>
            <a:avLst/>
            <a:gdLst/>
            <a:ahLst/>
            <a:cxnLst/>
            <a:rect l="l" t="t" r="r" b="b"/>
            <a:pathLst>
              <a:path w="8899887" h="5170059">
                <a:moveTo>
                  <a:pt x="0" y="0"/>
                </a:moveTo>
                <a:lnTo>
                  <a:pt x="8899886" y="0"/>
                </a:lnTo>
                <a:lnTo>
                  <a:pt x="8899886" y="5170058"/>
                </a:lnTo>
                <a:lnTo>
                  <a:pt x="0" y="5170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593849" y="1345962"/>
            <a:ext cx="7342136" cy="5067555"/>
          </a:xfrm>
          <a:custGeom>
            <a:avLst/>
            <a:gdLst/>
            <a:ahLst/>
            <a:cxnLst/>
            <a:rect l="l" t="t" r="r" b="b"/>
            <a:pathLst>
              <a:path w="7342136" h="5067555">
                <a:moveTo>
                  <a:pt x="0" y="0"/>
                </a:moveTo>
                <a:lnTo>
                  <a:pt x="7342137" y="0"/>
                </a:lnTo>
                <a:lnTo>
                  <a:pt x="7342137" y="5067556"/>
                </a:lnTo>
                <a:lnTo>
                  <a:pt x="0" y="5067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50929-AA3D-88C7-0C1D-344134E6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766</Words>
  <Application>Microsoft Macintosh PowerPoint</Application>
  <PresentationFormat>Custom</PresentationFormat>
  <Paragraphs>236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DM Sans Bold</vt:lpstr>
      <vt:lpstr>Agrandir Bold</vt:lpstr>
      <vt:lpstr>Quicksand Bold</vt:lpstr>
      <vt:lpstr>Calibri</vt:lpstr>
      <vt:lpstr>Poppins Bold</vt:lpstr>
      <vt:lpstr>Helvetica World</vt:lpstr>
      <vt:lpstr>Agrandir</vt:lpstr>
      <vt:lpstr>Aptos</vt:lpstr>
      <vt:lpstr>Arimo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</dc:title>
  <cp:lastModifiedBy>Sai Vamshidhar Reddy Salla</cp:lastModifiedBy>
  <cp:revision>6</cp:revision>
  <dcterms:created xsi:type="dcterms:W3CDTF">2006-08-16T00:00:00Z</dcterms:created>
  <dcterms:modified xsi:type="dcterms:W3CDTF">2024-12-11T04:41:58Z</dcterms:modified>
  <dc:identifier>DAGYxnbXiVs</dc:identifier>
</cp:coreProperties>
</file>